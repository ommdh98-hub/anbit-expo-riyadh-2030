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6858000" cy="9144000"/>
  <p:embeddedFontLst>
    <p:embeddedFont>
      <p:font typeface="IBM Plex Sans Arabic" panose="020B0604020202020204" charset="-78"/>
      <p:regular r:id="rId18"/>
      <p:bold r:id="rId19"/>
    </p:embeddedFont>
    <p:embeddedFont>
      <p:font typeface="IBM Plex Sans Arabic Medium" panose="020B0604020202020204" charset="-78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30" d="100"/>
          <a:sy n="130" d="100"/>
        </p:scale>
        <p:origin x="-312" y="-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3c1c94764568f31_3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h3c1c94764568f31_3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h3c1c94764568f31_3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h3c1c94764568f31_3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3c1c94764568f31_3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h3c1c94764568f31_3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3c1c94764568f31_3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h3c1c94764568f31_3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3c1c94764568f31_3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h3c1c94764568f31_3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h3c1c94764568f31_3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h3c1c94764568f31_3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h3c1c94764568f31_3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h3c1c94764568f31_3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h3c1c94764568f31_3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h3c1c94764568f31_3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h3c1c94764568f31_3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h3c1c94764568f31_3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h3c1c94764568f31_3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h3c1c94764568f31_3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h3c1c94764568f31_3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h3c1c94764568f31_3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h3c1c94764568f31_3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h3c1c94764568f31_3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h3c1c94764568f31_3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h3c1c94764568f31_3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h3c1c94764568f31_3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h3c1c94764568f31_3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54" name="Google Shape;54;p14" title="hglsn.png"/>
          <p:cNvPicPr preferRelativeResize="0"/>
          <p:nvPr/>
        </p:nvPicPr>
        <p:blipFill rotWithShape="1">
          <a:blip r:embed="rId2">
            <a:alphaModFix/>
          </a:blip>
          <a:srcRect l="35846" t="2629" r="25951"/>
          <a:stretch/>
        </p:blipFill>
        <p:spPr>
          <a:xfrm>
            <a:off x="-144000" y="-122975"/>
            <a:ext cx="9445627" cy="526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3035200" y="1705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-1838425" y="-13022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>
            <a:spLocks noGrp="1"/>
          </p:cNvSpPr>
          <p:nvPr>
            <p:ph type="title"/>
          </p:nvPr>
        </p:nvSpPr>
        <p:spPr>
          <a:xfrm>
            <a:off x="3035200" y="1705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>
            <a:spLocks noGrp="1"/>
          </p:cNvSpPr>
          <p:nvPr>
            <p:ph type="title"/>
          </p:nvPr>
        </p:nvSpPr>
        <p:spPr>
          <a:xfrm>
            <a:off x="3035200" y="1705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88" name="Google Shape;88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6E7DC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1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/>
        </p:nvSpPr>
        <p:spPr>
          <a:xfrm>
            <a:off x="863550" y="2076707"/>
            <a:ext cx="7416900" cy="1006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20"/>
              <a:buFont typeface="Arial"/>
              <a:buNone/>
            </a:pPr>
            <a:r>
              <a:rPr lang="ar-SA" sz="3220" b="1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أَنْبِت</a:t>
            </a:r>
            <a:endParaRPr sz="3220" b="1" i="0" strike="noStrike" cap="none" dirty="0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97" name="Google Shape;97;p25"/>
          <p:cNvSpPr txBox="1"/>
          <p:nvPr/>
        </p:nvSpPr>
        <p:spPr>
          <a:xfrm>
            <a:off x="863550" y="3190975"/>
            <a:ext cx="74169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algn="ctr" rtl="1">
              <a:buSzPts val="2800"/>
            </a:pPr>
            <a:r>
              <a:rPr lang="ar-SA" sz="16000" b="1" i="0" u="none" strike="noStrike" cap="none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فريق </a:t>
            </a:r>
            <a:r>
              <a:rPr lang="ar-SA" sz="16000" b="1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أَنْبِت</a:t>
            </a:r>
          </a:p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ar-SA" sz="2800" b="0" i="0" u="none" strike="noStrike" cap="none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endParaRPr sz="2800" b="0" i="0" u="none" strike="noStrike" cap="none" dirty="0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pic>
        <p:nvPicPr>
          <p:cNvPr id="98" name="Google Shape;98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95886" y="985996"/>
            <a:ext cx="977418" cy="640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5" title="logo misk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58834" y="792925"/>
            <a:ext cx="1944378" cy="1072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5" title="Riyadh Expo 2030(1).png"/>
          <p:cNvPicPr preferRelativeResize="0"/>
          <p:nvPr/>
        </p:nvPicPr>
        <p:blipFill rotWithShape="1">
          <a:blip r:embed="rId6">
            <a:alphaModFix/>
          </a:blip>
          <a:srcRect l="14448" t="33687" r="14448" b="33690"/>
          <a:stretch/>
        </p:blipFill>
        <p:spPr>
          <a:xfrm>
            <a:off x="2137332" y="1061327"/>
            <a:ext cx="1628005" cy="746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/>
        </p:nvSpPr>
        <p:spPr>
          <a:xfrm>
            <a:off x="720000" y="113087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أعضاء الفريق</a:t>
            </a:r>
            <a:endParaRPr sz="2800" b="0" i="0" u="none" strike="noStrike" cap="none">
              <a:solidFill>
                <a:srgbClr val="D30D3A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06" name="Google Shape;106;p26"/>
          <p:cNvSpPr/>
          <p:nvPr/>
        </p:nvSpPr>
        <p:spPr>
          <a:xfrm>
            <a:off x="4926974" y="2007579"/>
            <a:ext cx="1044900" cy="1044900"/>
          </a:xfrm>
          <a:prstGeom prst="ellipse">
            <a:avLst/>
          </a:prstGeom>
          <a:solidFill>
            <a:srgbClr val="03234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6"/>
          <p:cNvSpPr/>
          <p:nvPr/>
        </p:nvSpPr>
        <p:spPr>
          <a:xfrm>
            <a:off x="6495906" y="2007579"/>
            <a:ext cx="1044900" cy="1044900"/>
          </a:xfrm>
          <a:prstGeom prst="ellipse">
            <a:avLst/>
          </a:prstGeom>
          <a:solidFill>
            <a:srgbClr val="03234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6"/>
          <p:cNvSpPr txBox="1"/>
          <p:nvPr/>
        </p:nvSpPr>
        <p:spPr>
          <a:xfrm>
            <a:off x="6460913" y="2957095"/>
            <a:ext cx="1299849" cy="864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1">
              <a:lnSpc>
                <a:spcPct val="2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ar-SA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محمد زيد </a:t>
            </a:r>
            <a:endParaRPr sz="1400" b="0" i="0" u="none" strike="noStrike" cap="none" dirty="0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09" name="Google Shape;109;p26"/>
          <p:cNvSpPr txBox="1"/>
          <p:nvPr/>
        </p:nvSpPr>
        <p:spPr>
          <a:xfrm>
            <a:off x="4666820" y="3004603"/>
            <a:ext cx="1595510" cy="817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1">
              <a:lnSpc>
                <a:spcPct val="2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ar-SA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عمر الفيفي</a:t>
            </a:r>
            <a:endParaRPr sz="1400" b="0" i="0" u="none" strike="noStrike" cap="none" dirty="0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10" name="Google Shape;110;p26"/>
          <p:cNvSpPr txBox="1"/>
          <p:nvPr/>
        </p:nvSpPr>
        <p:spPr>
          <a:xfrm>
            <a:off x="3006675" y="3052479"/>
            <a:ext cx="1638600" cy="769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1">
              <a:lnSpc>
                <a:spcPct val="2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ar-SA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مهند الشمراني</a:t>
            </a:r>
            <a:endParaRPr sz="1400" b="0" i="0" u="none" strike="noStrike" cap="none" dirty="0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11" name="Google Shape;111;p26"/>
          <p:cNvSpPr txBox="1"/>
          <p:nvPr/>
        </p:nvSpPr>
        <p:spPr>
          <a:xfrm>
            <a:off x="1383230" y="3052474"/>
            <a:ext cx="1638600" cy="769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1">
              <a:lnSpc>
                <a:spcPct val="2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ar-SA" sz="1400" b="0" i="0" u="none" strike="noStrike" cap="none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عبدالله  اللحيدان </a:t>
            </a:r>
            <a:endParaRPr sz="1400" b="0" i="0" u="none" strike="noStrike" cap="none" dirty="0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1680074" y="2007579"/>
            <a:ext cx="1044900" cy="1044900"/>
          </a:xfrm>
          <a:prstGeom prst="ellipse">
            <a:avLst/>
          </a:prstGeom>
          <a:solidFill>
            <a:srgbClr val="03234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6"/>
          <p:cNvSpPr/>
          <p:nvPr/>
        </p:nvSpPr>
        <p:spPr>
          <a:xfrm>
            <a:off x="3303531" y="2007579"/>
            <a:ext cx="1044900" cy="1044900"/>
          </a:xfrm>
          <a:prstGeom prst="ellipse">
            <a:avLst/>
          </a:prstGeom>
          <a:solidFill>
            <a:srgbClr val="03234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26" title="user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45725" y="2273225"/>
            <a:ext cx="513597" cy="513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6" title="user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7789" y="2273225"/>
            <a:ext cx="644983" cy="731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B8A293-450A-8F35-01D7-A761C647BD2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097" t="13880" r="2292" b="20740"/>
          <a:stretch>
            <a:fillRect/>
          </a:stretch>
        </p:blipFill>
        <p:spPr>
          <a:xfrm>
            <a:off x="6482458" y="1841342"/>
            <a:ext cx="1211132" cy="124656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30AF83-3D93-AF84-2F72-11E0B81670B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28" t="-60" r="-528" b="60"/>
          <a:stretch>
            <a:fillRect/>
          </a:stretch>
        </p:blipFill>
        <p:spPr>
          <a:xfrm>
            <a:off x="4843858" y="1841342"/>
            <a:ext cx="1211132" cy="121113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070066D-F9E1-5888-7647-3D3693E4F7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98868" y="1841343"/>
            <a:ext cx="1211132" cy="1246564"/>
          </a:xfrm>
          <a:prstGeom prst="roundRect">
            <a:avLst>
              <a:gd name="adj" fmla="val 1757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F305870-B80E-D4F3-0B46-EB59BDCE38F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4045" t="7025" r="13573" b="9511"/>
          <a:stretch>
            <a:fillRect/>
          </a:stretch>
        </p:blipFill>
        <p:spPr>
          <a:xfrm>
            <a:off x="1654693" y="1845957"/>
            <a:ext cx="1211132" cy="124656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7"/>
          <p:cNvSpPr txBox="1"/>
          <p:nvPr/>
        </p:nvSpPr>
        <p:spPr>
          <a:xfrm>
            <a:off x="677425" y="1054150"/>
            <a:ext cx="74169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المحتويات:</a:t>
            </a:r>
            <a:endParaRPr sz="28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23" name="Google Shape;123;p27"/>
          <p:cNvSpPr txBox="1"/>
          <p:nvPr/>
        </p:nvSpPr>
        <p:spPr>
          <a:xfrm>
            <a:off x="6035350" y="1796425"/>
            <a:ext cx="1586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0"/>
              <a:buFont typeface="Arial"/>
              <a:buNone/>
            </a:pPr>
            <a:r>
              <a:rPr lang="en" sz="152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أعضاء الفريق </a:t>
            </a:r>
            <a:endParaRPr sz="152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24" name="Google Shape;124;p27"/>
          <p:cNvSpPr/>
          <p:nvPr/>
        </p:nvSpPr>
        <p:spPr>
          <a:xfrm>
            <a:off x="7697600" y="1796425"/>
            <a:ext cx="384000" cy="384000"/>
          </a:xfrm>
          <a:prstGeom prst="roundRect">
            <a:avLst>
              <a:gd name="adj" fmla="val 18808"/>
            </a:avLst>
          </a:prstGeom>
          <a:solidFill>
            <a:srgbClr val="46307B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" sz="13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01</a:t>
            </a:r>
            <a:endParaRPr sz="13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25" name="Google Shape;125;p27"/>
          <p:cNvSpPr txBox="1"/>
          <p:nvPr/>
        </p:nvSpPr>
        <p:spPr>
          <a:xfrm>
            <a:off x="6035350" y="2455975"/>
            <a:ext cx="1586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0"/>
              <a:buFont typeface="Arial"/>
              <a:buNone/>
            </a:pPr>
            <a:r>
              <a:rPr lang="en" sz="1520" b="0" i="0" u="none" strike="noStrike" cap="none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المشكلة وحلها</a:t>
            </a:r>
            <a:endParaRPr sz="1520" b="0" i="0" u="none" strike="noStrike" cap="none" dirty="0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26" name="Google Shape;126;p27"/>
          <p:cNvSpPr/>
          <p:nvPr/>
        </p:nvSpPr>
        <p:spPr>
          <a:xfrm>
            <a:off x="7697600" y="2455975"/>
            <a:ext cx="384000" cy="384000"/>
          </a:xfrm>
          <a:prstGeom prst="roundRect">
            <a:avLst>
              <a:gd name="adj" fmla="val 18808"/>
            </a:avLst>
          </a:prstGeom>
          <a:solidFill>
            <a:srgbClr val="46307B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3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02</a:t>
            </a:r>
            <a:endParaRPr sz="13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27" name="Google Shape;127;p27"/>
          <p:cNvSpPr txBox="1"/>
          <p:nvPr/>
        </p:nvSpPr>
        <p:spPr>
          <a:xfrm>
            <a:off x="5743275" y="3141675"/>
            <a:ext cx="18783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0"/>
              <a:buFont typeface="Arial"/>
              <a:buNone/>
            </a:pPr>
            <a:r>
              <a:rPr lang="en" sz="1520" b="0" i="0" u="none" strike="noStrike" cap="none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وصف الفكرة</a:t>
            </a:r>
            <a:endParaRPr sz="1520" b="0" i="0" u="none" strike="noStrike" cap="none" dirty="0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28" name="Google Shape;128;p27"/>
          <p:cNvSpPr/>
          <p:nvPr/>
        </p:nvSpPr>
        <p:spPr>
          <a:xfrm>
            <a:off x="7697600" y="3141675"/>
            <a:ext cx="384000" cy="384000"/>
          </a:xfrm>
          <a:prstGeom prst="roundRect">
            <a:avLst>
              <a:gd name="adj" fmla="val 18808"/>
            </a:avLst>
          </a:prstGeom>
          <a:solidFill>
            <a:srgbClr val="46307B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3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03</a:t>
            </a:r>
            <a:endParaRPr sz="13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29" name="Google Shape;129;p27"/>
          <p:cNvSpPr txBox="1"/>
          <p:nvPr/>
        </p:nvSpPr>
        <p:spPr>
          <a:xfrm>
            <a:off x="6035350" y="3801225"/>
            <a:ext cx="1586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0"/>
              <a:buFont typeface="Arial"/>
              <a:buNone/>
            </a:pPr>
            <a:r>
              <a:rPr lang="en" sz="1520" b="0" i="0" u="none" strike="noStrike" cap="none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التقنيات المستخدمة</a:t>
            </a:r>
            <a:endParaRPr sz="1520" b="0" i="0" u="none" strike="noStrike" cap="none" dirty="0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30" name="Google Shape;130;p27"/>
          <p:cNvSpPr/>
          <p:nvPr/>
        </p:nvSpPr>
        <p:spPr>
          <a:xfrm>
            <a:off x="7697600" y="3801225"/>
            <a:ext cx="384000" cy="384000"/>
          </a:xfrm>
          <a:prstGeom prst="roundRect">
            <a:avLst>
              <a:gd name="adj" fmla="val 18808"/>
            </a:avLst>
          </a:prstGeom>
          <a:solidFill>
            <a:srgbClr val="46307B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3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04</a:t>
            </a:r>
            <a:endParaRPr sz="13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31" name="Google Shape;131;p27"/>
          <p:cNvSpPr txBox="1"/>
          <p:nvPr/>
        </p:nvSpPr>
        <p:spPr>
          <a:xfrm>
            <a:off x="1645150" y="1796425"/>
            <a:ext cx="3797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0"/>
              <a:buFont typeface="Arial"/>
              <a:buNone/>
            </a:pPr>
            <a:r>
              <a:rPr lang="en" sz="1520" b="0" i="0" u="none" strike="noStrike" cap="none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جميع البيانات المستخدمة </a:t>
            </a:r>
            <a:r>
              <a:rPr lang="ar-SA" sz="1520" b="0" i="0" u="none" strike="noStrike" cap="none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(</a:t>
            </a:r>
            <a:r>
              <a:rPr lang="en" sz="1520" b="0" i="0" u="none" strike="noStrike" cap="none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نصية وغير نصية</a:t>
            </a:r>
            <a:r>
              <a:rPr lang="ar-SA" sz="1520" b="0" i="0" u="none" strike="noStrike" cap="none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)</a:t>
            </a:r>
            <a:endParaRPr sz="1520" b="0" i="0" u="none" strike="noStrike" cap="none" dirty="0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32" name="Google Shape;132;p27"/>
          <p:cNvSpPr/>
          <p:nvPr/>
        </p:nvSpPr>
        <p:spPr>
          <a:xfrm>
            <a:off x="5518425" y="1796425"/>
            <a:ext cx="384000" cy="384000"/>
          </a:xfrm>
          <a:prstGeom prst="roundRect">
            <a:avLst>
              <a:gd name="adj" fmla="val 18808"/>
            </a:avLst>
          </a:prstGeom>
          <a:solidFill>
            <a:srgbClr val="46307B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3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05</a:t>
            </a:r>
            <a:endParaRPr sz="13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33" name="Google Shape;133;p27"/>
          <p:cNvSpPr txBox="1"/>
          <p:nvPr/>
        </p:nvSpPr>
        <p:spPr>
          <a:xfrm>
            <a:off x="1100275" y="2455975"/>
            <a:ext cx="43422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0"/>
              <a:buFont typeface="Arial"/>
              <a:buNone/>
            </a:pPr>
            <a:r>
              <a:rPr lang="en" sz="1520" b="0" i="0" u="none" strike="noStrike" cap="none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كيفية توفير هذه البيانات وكيفية استخدامها</a:t>
            </a:r>
            <a:endParaRPr sz="1520" b="0" i="0" u="none" strike="noStrike" cap="none" dirty="0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34" name="Google Shape;134;p27"/>
          <p:cNvSpPr/>
          <p:nvPr/>
        </p:nvSpPr>
        <p:spPr>
          <a:xfrm>
            <a:off x="5518425" y="2455975"/>
            <a:ext cx="384000" cy="384000"/>
          </a:xfrm>
          <a:prstGeom prst="roundRect">
            <a:avLst>
              <a:gd name="adj" fmla="val 18808"/>
            </a:avLst>
          </a:prstGeom>
          <a:solidFill>
            <a:srgbClr val="46307B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3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06</a:t>
            </a:r>
            <a:endParaRPr sz="13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35" name="Google Shape;135;p27"/>
          <p:cNvSpPr txBox="1"/>
          <p:nvPr/>
        </p:nvSpPr>
        <p:spPr>
          <a:xfrm>
            <a:off x="3358025" y="3141675"/>
            <a:ext cx="20844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0"/>
              <a:buFont typeface="Arial"/>
              <a:buNone/>
            </a:pPr>
            <a:r>
              <a:rPr lang="en" sz="1520" b="0" i="0" u="none" strike="noStrike" cap="none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ملخص</a:t>
            </a:r>
            <a:endParaRPr sz="1520" b="0" i="0" u="none" strike="noStrike" cap="none" dirty="0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36" name="Google Shape;136;p27"/>
          <p:cNvSpPr/>
          <p:nvPr/>
        </p:nvSpPr>
        <p:spPr>
          <a:xfrm>
            <a:off x="5518425" y="3141675"/>
            <a:ext cx="384000" cy="384000"/>
          </a:xfrm>
          <a:prstGeom prst="roundRect">
            <a:avLst>
              <a:gd name="adj" fmla="val 18808"/>
            </a:avLst>
          </a:prstGeom>
          <a:solidFill>
            <a:srgbClr val="46307B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3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07</a:t>
            </a:r>
            <a:endParaRPr sz="13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8"/>
          <p:cNvSpPr txBox="1"/>
          <p:nvPr/>
        </p:nvSpPr>
        <p:spPr>
          <a:xfrm>
            <a:off x="6057900" y="833150"/>
            <a:ext cx="2399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المشكلة  وحلّها</a:t>
            </a:r>
            <a:endParaRPr sz="28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42" name="Google Shape;142;p28"/>
          <p:cNvSpPr txBox="1"/>
          <p:nvPr/>
        </p:nvSpPr>
        <p:spPr>
          <a:xfrm>
            <a:off x="1826100" y="1476175"/>
            <a:ext cx="6631500" cy="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r" rtl="1">
              <a:buSzPts val="900"/>
            </a:pPr>
            <a:r>
              <a:rPr lang="ar-SA" sz="900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الحساسات تقيس رطوبة التربة في نقاط محدودة، وقد لا تعكس حالة كامل المسطح الأخضر، مما يصعّب تحديد وقت الري وكميته ويرفع احتمالات هدر المياه.</a:t>
            </a:r>
            <a:endParaRPr sz="900" b="0" i="0" u="none" strike="noStrike" cap="none" dirty="0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43" name="Google Shape;143;p28"/>
          <p:cNvSpPr txBox="1"/>
          <p:nvPr/>
        </p:nvSpPr>
        <p:spPr>
          <a:xfrm>
            <a:off x="1742859" y="2064697"/>
            <a:ext cx="3707400" cy="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 dirty="0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44" name="Google Shape;144;p28"/>
          <p:cNvSpPr txBox="1"/>
          <p:nvPr/>
        </p:nvSpPr>
        <p:spPr>
          <a:xfrm>
            <a:off x="1742859" y="2837194"/>
            <a:ext cx="3707400" cy="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Monitor changes in the marketplace, such as shifts in consumer behavior or emerging technologies, to stay competitive and capitalize on new opportunities and trends</a:t>
            </a:r>
            <a:endParaRPr sz="9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45" name="Google Shape;145;p28"/>
          <p:cNvSpPr txBox="1"/>
          <p:nvPr/>
        </p:nvSpPr>
        <p:spPr>
          <a:xfrm>
            <a:off x="1742859" y="3633604"/>
            <a:ext cx="3707400" cy="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Identify times of year when demand for certain products may spike, such as holidays or special occasions, and use these times to target customers or maximize sales</a:t>
            </a:r>
            <a:endParaRPr sz="9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46" name="Google Shape;146;p28"/>
          <p:cNvSpPr txBox="1"/>
          <p:nvPr/>
        </p:nvSpPr>
        <p:spPr>
          <a:xfrm>
            <a:off x="5498596" y="2084686"/>
            <a:ext cx="2118900" cy="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ar-SA" sz="1500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الحلول </a:t>
            </a:r>
            <a:r>
              <a:rPr lang="ar-SA" sz="1500" dirty="0" err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المبتكره</a:t>
            </a:r>
            <a:r>
              <a:rPr lang="ar-SA" sz="1500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endParaRPr sz="1500" b="0" i="0" u="none" strike="noStrike" cap="none" dirty="0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47" name="Google Shape;147;p28"/>
          <p:cNvSpPr txBox="1"/>
          <p:nvPr/>
        </p:nvSpPr>
        <p:spPr>
          <a:xfrm>
            <a:off x="5487775" y="2837194"/>
            <a:ext cx="2118900" cy="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Stay ahead of trends</a:t>
            </a:r>
            <a:endParaRPr sz="1500" b="0" i="0" u="none" strike="noStrike" cap="none" dirty="0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48" name="Google Shape;148;p28"/>
          <p:cNvSpPr txBox="1"/>
          <p:nvPr/>
        </p:nvSpPr>
        <p:spPr>
          <a:xfrm>
            <a:off x="5487775" y="3633604"/>
            <a:ext cx="2118900" cy="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Seasonal spikes</a:t>
            </a:r>
            <a:endParaRPr sz="1500" b="0" i="0" u="none" strike="noStrike" cap="none" dirty="0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grpSp>
        <p:nvGrpSpPr>
          <p:cNvPr id="149" name="Google Shape;149;p28"/>
          <p:cNvGrpSpPr/>
          <p:nvPr/>
        </p:nvGrpSpPr>
        <p:grpSpPr>
          <a:xfrm>
            <a:off x="7972475" y="2059231"/>
            <a:ext cx="485125" cy="639432"/>
            <a:chOff x="7753313" y="2059231"/>
            <a:chExt cx="485125" cy="639432"/>
          </a:xfrm>
        </p:grpSpPr>
        <p:pic>
          <p:nvPicPr>
            <p:cNvPr id="150" name="Google Shape;150;p28" title="Untitled-54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01650" y="2310188"/>
              <a:ext cx="388475" cy="388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p28" title="idea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753313" y="2059231"/>
              <a:ext cx="485125" cy="4851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2" name="Google Shape;152;p28"/>
          <p:cNvGrpSpPr/>
          <p:nvPr/>
        </p:nvGrpSpPr>
        <p:grpSpPr>
          <a:xfrm>
            <a:off x="8020800" y="2848776"/>
            <a:ext cx="388475" cy="584313"/>
            <a:chOff x="7849975" y="3023575"/>
            <a:chExt cx="388475" cy="584313"/>
          </a:xfrm>
        </p:grpSpPr>
        <p:pic>
          <p:nvPicPr>
            <p:cNvPr id="153" name="Google Shape;153;p28" title="trending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849975" y="3023575"/>
              <a:ext cx="388475" cy="388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28" title="Untitled-54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49975" y="3219413"/>
              <a:ext cx="388475" cy="388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5" name="Google Shape;155;p28"/>
          <p:cNvGrpSpPr/>
          <p:nvPr/>
        </p:nvGrpSpPr>
        <p:grpSpPr>
          <a:xfrm>
            <a:off x="8003424" y="3583230"/>
            <a:ext cx="423226" cy="565597"/>
            <a:chOff x="7815224" y="3702152"/>
            <a:chExt cx="423226" cy="565597"/>
          </a:xfrm>
        </p:grpSpPr>
        <p:pic>
          <p:nvPicPr>
            <p:cNvPr id="156" name="Google Shape;156;p28" title="flash-sale-2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815224" y="3702152"/>
              <a:ext cx="423224" cy="423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28" title="Untitled-54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49975" y="3879274"/>
              <a:ext cx="388475" cy="3884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/>
        </p:nvSpPr>
        <p:spPr>
          <a:xfrm>
            <a:off x="4916400" y="833150"/>
            <a:ext cx="354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البيانات المستخدمة</a:t>
            </a:r>
            <a:endParaRPr sz="28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63" name="Google Shape;163;p29"/>
          <p:cNvSpPr txBox="1"/>
          <p:nvPr/>
        </p:nvSpPr>
        <p:spPr>
          <a:xfrm>
            <a:off x="1826100" y="1349823"/>
            <a:ext cx="6631500" cy="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يشرح القسم كل البيانات التي تم جمعها أو توليدها خلال المشروع، سواء كانت نصية مثل النصوص أو غير نصية مثل الصور والرسوم البيانية.</a:t>
            </a:r>
            <a:endParaRPr sz="9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64" name="Google Shape;164;p29"/>
          <p:cNvSpPr txBox="1"/>
          <p:nvPr/>
        </p:nvSpPr>
        <p:spPr>
          <a:xfrm>
            <a:off x="968100" y="2021083"/>
            <a:ext cx="7489500" cy="8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29210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Arabic"/>
              <a:buChar char="●"/>
            </a:pPr>
            <a:r>
              <a:rPr lang="en" sz="100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ما هي مصادر البيانات التي استخدمتها؟</a:t>
            </a:r>
            <a:endParaRPr sz="10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marL="457200" marR="0" lvl="0" indent="-29210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Arabic"/>
              <a:buChar char="●"/>
            </a:pPr>
            <a:r>
              <a:rPr lang="en" sz="100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ما الذي قمت به لتنظيفها أو معالجتها؟</a:t>
            </a:r>
            <a:endParaRPr sz="10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marL="457200" marR="0" lvl="0" indent="-29210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Arabic"/>
              <a:buChar char="●"/>
            </a:pPr>
            <a:r>
              <a:rPr lang="en" sz="100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ما هي التحديات التي واجهتك في جمع البيانات؟ (مثل صعوبة الوصول إلى البيانات البيومترية للرياضيين).</a:t>
            </a:r>
            <a:endParaRPr sz="10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marL="0" marR="0" lvl="0" indent="0" algn="ct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pic>
        <p:nvPicPr>
          <p:cNvPr id="165" name="Google Shape;165;p29" title="Untitled-35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7738" y="3219675"/>
            <a:ext cx="1934325" cy="58029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9"/>
          <p:cNvSpPr txBox="1"/>
          <p:nvPr/>
        </p:nvSpPr>
        <p:spPr>
          <a:xfrm>
            <a:off x="2465900" y="2987825"/>
            <a:ext cx="1218000" cy="5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0" i="0" u="none" strike="noStrike" cap="none">
                <a:solidFill>
                  <a:srgbClr val="D30D3A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0%</a:t>
            </a:r>
            <a:endParaRPr sz="2200" b="0" i="0" u="none" strike="noStrike" cap="none">
              <a:solidFill>
                <a:srgbClr val="D30D3A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167" name="Google Shape;167;p29"/>
          <p:cNvSpPr txBox="1"/>
          <p:nvPr/>
        </p:nvSpPr>
        <p:spPr>
          <a:xfrm>
            <a:off x="2465900" y="3377575"/>
            <a:ext cx="1218000" cy="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0" i="0" u="none" strike="noStrike" cap="none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1st quarter</a:t>
            </a:r>
            <a:endParaRPr sz="1500" b="0" i="0" u="none" strike="noStrike" cap="none">
              <a:solidFill>
                <a:srgbClr val="D30D3A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D30D3A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pic>
        <p:nvPicPr>
          <p:cNvPr id="168" name="Google Shape;168;p29" title="Untitled-35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5506" y="3219675"/>
            <a:ext cx="1934325" cy="580294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9"/>
          <p:cNvSpPr txBox="1"/>
          <p:nvPr/>
        </p:nvSpPr>
        <p:spPr>
          <a:xfrm>
            <a:off x="4673669" y="2987825"/>
            <a:ext cx="1218000" cy="5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0" i="0" u="none" strike="noStrike" cap="none">
                <a:solidFill>
                  <a:srgbClr val="D30D3A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0%</a:t>
            </a:r>
            <a:endParaRPr sz="2200" b="0" i="0" u="none" strike="noStrike" cap="none">
              <a:solidFill>
                <a:srgbClr val="D30D3A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170" name="Google Shape;170;p29"/>
          <p:cNvSpPr txBox="1"/>
          <p:nvPr/>
        </p:nvSpPr>
        <p:spPr>
          <a:xfrm>
            <a:off x="4673669" y="3377575"/>
            <a:ext cx="1218000" cy="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2st quarter</a:t>
            </a:r>
            <a:endParaRPr sz="1500" b="0" i="0" u="none" strike="noStrike" cap="none">
              <a:solidFill>
                <a:srgbClr val="D30D3A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D30D3A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pic>
        <p:nvPicPr>
          <p:cNvPr id="171" name="Google Shape;171;p29" title="Untitled-35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23275" y="3219675"/>
            <a:ext cx="1934325" cy="580294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9"/>
          <p:cNvSpPr txBox="1"/>
          <p:nvPr/>
        </p:nvSpPr>
        <p:spPr>
          <a:xfrm>
            <a:off x="6881438" y="2987825"/>
            <a:ext cx="1218000" cy="5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0" i="0" u="none" strike="noStrike" cap="none">
                <a:solidFill>
                  <a:srgbClr val="D30D3A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0%</a:t>
            </a:r>
            <a:endParaRPr sz="2200" b="0" i="0" u="none" strike="noStrike" cap="none">
              <a:solidFill>
                <a:srgbClr val="D30D3A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173" name="Google Shape;173;p29"/>
          <p:cNvSpPr txBox="1"/>
          <p:nvPr/>
        </p:nvSpPr>
        <p:spPr>
          <a:xfrm>
            <a:off x="6881438" y="3377575"/>
            <a:ext cx="1218000" cy="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3st quarter</a:t>
            </a:r>
            <a:endParaRPr sz="1500" b="0" i="0" u="none" strike="noStrike" cap="none">
              <a:solidFill>
                <a:srgbClr val="D30D3A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D30D3A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/>
          <p:nvPr/>
        </p:nvSpPr>
        <p:spPr>
          <a:xfrm>
            <a:off x="5006100" y="833150"/>
            <a:ext cx="3451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التقنيات المستخدمة</a:t>
            </a:r>
            <a:endParaRPr sz="25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79" name="Google Shape;179;p30"/>
          <p:cNvSpPr txBox="1"/>
          <p:nvPr/>
        </p:nvSpPr>
        <p:spPr>
          <a:xfrm>
            <a:off x="4581425" y="1678103"/>
            <a:ext cx="3166500" cy="7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يعرض هذا القسم التقنيات المختلفة التي تم استخدامها في المشروع، مثل الأدوات البرمجية، الأطر التقنية، أو اللغات البرمجية.</a:t>
            </a:r>
            <a:endParaRPr sz="11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grpSp>
        <p:nvGrpSpPr>
          <p:cNvPr id="180" name="Google Shape;180;p30"/>
          <p:cNvGrpSpPr/>
          <p:nvPr/>
        </p:nvGrpSpPr>
        <p:grpSpPr>
          <a:xfrm>
            <a:off x="7840450" y="1668450"/>
            <a:ext cx="485125" cy="639432"/>
            <a:chOff x="7753313" y="2059231"/>
            <a:chExt cx="485125" cy="639432"/>
          </a:xfrm>
        </p:grpSpPr>
        <p:pic>
          <p:nvPicPr>
            <p:cNvPr id="181" name="Google Shape;181;p30" title="Untitled-54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01650" y="2310188"/>
              <a:ext cx="388475" cy="388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30" title="idea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753313" y="2059231"/>
              <a:ext cx="485125" cy="485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30"/>
          <p:cNvSpPr txBox="1"/>
          <p:nvPr/>
        </p:nvSpPr>
        <p:spPr>
          <a:xfrm>
            <a:off x="577925" y="1678103"/>
            <a:ext cx="3166500" cy="7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يعرض هذا القسم التقنيات المختلفة التي تم استخدامها في المشروع، مثل الأدوات البرمجية، الأطر التقنية، أو اللغات البرمجية.</a:t>
            </a:r>
            <a:endParaRPr sz="11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grpSp>
        <p:nvGrpSpPr>
          <p:cNvPr id="184" name="Google Shape;184;p30"/>
          <p:cNvGrpSpPr/>
          <p:nvPr/>
        </p:nvGrpSpPr>
        <p:grpSpPr>
          <a:xfrm>
            <a:off x="3836950" y="1668450"/>
            <a:ext cx="485125" cy="639432"/>
            <a:chOff x="7753313" y="2059231"/>
            <a:chExt cx="485125" cy="639432"/>
          </a:xfrm>
        </p:grpSpPr>
        <p:pic>
          <p:nvPicPr>
            <p:cNvPr id="185" name="Google Shape;185;p30" title="Untitled-54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01650" y="2310188"/>
              <a:ext cx="388475" cy="388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" name="Google Shape;186;p30" title="idea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753313" y="2059231"/>
              <a:ext cx="485125" cy="485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7" name="Google Shape;187;p30"/>
          <p:cNvSpPr txBox="1"/>
          <p:nvPr/>
        </p:nvSpPr>
        <p:spPr>
          <a:xfrm>
            <a:off x="4581425" y="2764090"/>
            <a:ext cx="3166500" cy="7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يعرض هذا القسم التقنيات المختلفة التي تم استخدامها في المشروع، مثل الأدوات البرمجية، الأطر التقنية، أو اللغات البرمجية.</a:t>
            </a:r>
            <a:endParaRPr sz="11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grpSp>
        <p:nvGrpSpPr>
          <p:cNvPr id="188" name="Google Shape;188;p30"/>
          <p:cNvGrpSpPr/>
          <p:nvPr/>
        </p:nvGrpSpPr>
        <p:grpSpPr>
          <a:xfrm>
            <a:off x="7840450" y="2754437"/>
            <a:ext cx="485125" cy="639432"/>
            <a:chOff x="7753313" y="2059231"/>
            <a:chExt cx="485125" cy="639432"/>
          </a:xfrm>
        </p:grpSpPr>
        <p:pic>
          <p:nvPicPr>
            <p:cNvPr id="189" name="Google Shape;189;p30" title="Untitled-54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01650" y="2310188"/>
              <a:ext cx="388475" cy="388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" name="Google Shape;190;p30" title="idea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753313" y="2059231"/>
              <a:ext cx="485125" cy="485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1" name="Google Shape;191;p30"/>
          <p:cNvSpPr txBox="1"/>
          <p:nvPr/>
        </p:nvSpPr>
        <p:spPr>
          <a:xfrm>
            <a:off x="577925" y="2764090"/>
            <a:ext cx="3166500" cy="7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يعرض هذا القسم التقنيات المختلفة التي تم استخدامها في المشروع، مثل الأدوات البرمجية، الأطر التقنية، أو اللغات البرمجية.</a:t>
            </a:r>
            <a:endParaRPr sz="11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grpSp>
        <p:nvGrpSpPr>
          <p:cNvPr id="192" name="Google Shape;192;p30"/>
          <p:cNvGrpSpPr/>
          <p:nvPr/>
        </p:nvGrpSpPr>
        <p:grpSpPr>
          <a:xfrm>
            <a:off x="3836950" y="2754437"/>
            <a:ext cx="485125" cy="639432"/>
            <a:chOff x="7753313" y="2059231"/>
            <a:chExt cx="485125" cy="639432"/>
          </a:xfrm>
        </p:grpSpPr>
        <p:pic>
          <p:nvPicPr>
            <p:cNvPr id="193" name="Google Shape;193;p30" title="Untitled-54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01650" y="2310188"/>
              <a:ext cx="388475" cy="388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30" title="idea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753313" y="2059231"/>
              <a:ext cx="485125" cy="485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30"/>
          <p:cNvSpPr txBox="1"/>
          <p:nvPr/>
        </p:nvSpPr>
        <p:spPr>
          <a:xfrm>
            <a:off x="4581425" y="3850078"/>
            <a:ext cx="3166500" cy="7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يعرض هذا القسم التقنيات المختلفة التي تم استخدامها في المشروع، مثل الأدوات البرمجية، الأطر التقنية، أو اللغات البرمجية.</a:t>
            </a:r>
            <a:endParaRPr sz="11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grpSp>
        <p:nvGrpSpPr>
          <p:cNvPr id="196" name="Google Shape;196;p30"/>
          <p:cNvGrpSpPr/>
          <p:nvPr/>
        </p:nvGrpSpPr>
        <p:grpSpPr>
          <a:xfrm>
            <a:off x="7840450" y="3840425"/>
            <a:ext cx="485125" cy="639432"/>
            <a:chOff x="7753313" y="2059231"/>
            <a:chExt cx="485125" cy="639432"/>
          </a:xfrm>
        </p:grpSpPr>
        <p:pic>
          <p:nvPicPr>
            <p:cNvPr id="197" name="Google Shape;197;p30" title="Untitled-54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01650" y="2310188"/>
              <a:ext cx="388475" cy="388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30" title="idea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753313" y="2059231"/>
              <a:ext cx="485125" cy="485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9" name="Google Shape;199;p30"/>
          <p:cNvSpPr txBox="1"/>
          <p:nvPr/>
        </p:nvSpPr>
        <p:spPr>
          <a:xfrm>
            <a:off x="577925" y="3850078"/>
            <a:ext cx="3166500" cy="7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يعرض هذا القسم التقنيات المختلفة التي تم استخدامها في المشروع، مثل الأدوات البرمجية، الأطر التقنية، أو اللغات البرمجية.</a:t>
            </a:r>
            <a:endParaRPr sz="11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grpSp>
        <p:nvGrpSpPr>
          <p:cNvPr id="200" name="Google Shape;200;p30"/>
          <p:cNvGrpSpPr/>
          <p:nvPr/>
        </p:nvGrpSpPr>
        <p:grpSpPr>
          <a:xfrm>
            <a:off x="3836950" y="3840425"/>
            <a:ext cx="485125" cy="639432"/>
            <a:chOff x="7753313" y="2059231"/>
            <a:chExt cx="485125" cy="639432"/>
          </a:xfrm>
        </p:grpSpPr>
        <p:pic>
          <p:nvPicPr>
            <p:cNvPr id="201" name="Google Shape;201;p30" title="Untitled-54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01650" y="2310188"/>
              <a:ext cx="388475" cy="388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30" title="idea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753313" y="2059231"/>
              <a:ext cx="485125" cy="4851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31" title="shutterstock_452767891.jpg"/>
          <p:cNvPicPr preferRelativeResize="0"/>
          <p:nvPr/>
        </p:nvPicPr>
        <p:blipFill rotWithShape="1">
          <a:blip r:embed="rId4">
            <a:alphaModFix/>
          </a:blip>
          <a:srcRect l="10670" r="56019" b="2220"/>
          <a:stretch/>
        </p:blipFill>
        <p:spPr>
          <a:xfrm>
            <a:off x="6449217" y="0"/>
            <a:ext cx="2694784" cy="5143501"/>
          </a:xfrm>
          <a:prstGeom prst="rect">
            <a:avLst/>
          </a:prstGeom>
          <a:solidFill>
            <a:srgbClr val="C36B4E"/>
          </a:solidFill>
          <a:ln>
            <a:noFill/>
          </a:ln>
        </p:spPr>
      </p:pic>
      <p:pic>
        <p:nvPicPr>
          <p:cNvPr id="208" name="Google Shape;208;p31" title="shutterstock_2308548581.png"/>
          <p:cNvPicPr preferRelativeResize="0"/>
          <p:nvPr/>
        </p:nvPicPr>
        <p:blipFill rotWithShape="1">
          <a:blip r:embed="rId5">
            <a:alphaModFix/>
          </a:blip>
          <a:srcRect b="7570"/>
          <a:stretch/>
        </p:blipFill>
        <p:spPr>
          <a:xfrm>
            <a:off x="6935125" y="671075"/>
            <a:ext cx="1901925" cy="4472428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1"/>
          <p:cNvSpPr txBox="1"/>
          <p:nvPr/>
        </p:nvSpPr>
        <p:spPr>
          <a:xfrm>
            <a:off x="2387786" y="2557563"/>
            <a:ext cx="3098400" cy="13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يحتوي على شرح مفصل للفكرة التي تم تطويرها لمعالجة المشكلة، مع التركيز على الفوائد والابتكارات التي تقدمها.</a:t>
            </a:r>
            <a:endParaRPr sz="12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210" name="Google Shape;210;p31"/>
          <p:cNvSpPr txBox="1"/>
          <p:nvPr/>
        </p:nvSpPr>
        <p:spPr>
          <a:xfrm>
            <a:off x="2387786" y="2151363"/>
            <a:ext cx="30984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 b="0" i="0" u="none" strike="noStrike" cap="none">
                <a:solidFill>
                  <a:srgbClr val="8980B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عنوان</a:t>
            </a:r>
            <a:endParaRPr sz="2500" b="0" i="0" u="none" strike="noStrike" cap="none">
              <a:solidFill>
                <a:srgbClr val="8980BC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211" name="Google Shape;211;p31"/>
          <p:cNvSpPr txBox="1"/>
          <p:nvPr/>
        </p:nvSpPr>
        <p:spPr>
          <a:xfrm>
            <a:off x="3086486" y="1273438"/>
            <a:ext cx="2399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وصف الفكرة</a:t>
            </a:r>
            <a:endParaRPr sz="2500" b="0" i="0" u="none" strike="noStrike" cap="none">
              <a:solidFill>
                <a:srgbClr val="D30D3A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2"/>
          <p:cNvSpPr txBox="1"/>
          <p:nvPr/>
        </p:nvSpPr>
        <p:spPr>
          <a:xfrm>
            <a:off x="2355199" y="2539138"/>
            <a:ext cx="3517500" cy="13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يوضح الطرق التي تم من خلالها الحصول على البيانات المستخدمة في المشروع، وكيف تم استخدامها لتحقيق أهداف المشروع وتحليل النتائج.</a:t>
            </a:r>
            <a:endParaRPr sz="12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217" name="Google Shape;217;p32"/>
          <p:cNvSpPr txBox="1"/>
          <p:nvPr/>
        </p:nvSpPr>
        <p:spPr>
          <a:xfrm>
            <a:off x="2083050" y="1291863"/>
            <a:ext cx="3789900" cy="13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كيفية توفير هذه البيانات وكيفية استخدامها</a:t>
            </a:r>
            <a:endParaRPr sz="2800" b="1" i="0" u="none" strike="noStrike" cap="none">
              <a:solidFill>
                <a:srgbClr val="D30D3A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pic>
        <p:nvPicPr>
          <p:cNvPr id="218" name="Google Shape;218;p32" title="shutterstock_2303267969.jpg"/>
          <p:cNvPicPr preferRelativeResize="0"/>
          <p:nvPr/>
        </p:nvPicPr>
        <p:blipFill rotWithShape="1">
          <a:blip r:embed="rId4">
            <a:alphaModFix/>
          </a:blip>
          <a:srcRect l="66924" t="12907"/>
          <a:stretch/>
        </p:blipFill>
        <p:spPr>
          <a:xfrm>
            <a:off x="6213200" y="0"/>
            <a:ext cx="29308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2" title="shutterstock_2627921973.png"/>
          <p:cNvPicPr preferRelativeResize="0"/>
          <p:nvPr/>
        </p:nvPicPr>
        <p:blipFill rotWithShape="1">
          <a:blip r:embed="rId5">
            <a:alphaModFix/>
          </a:blip>
          <a:srcRect l="6001" t="-834" r="46818" b="-834"/>
          <a:stretch/>
        </p:blipFill>
        <p:spPr>
          <a:xfrm>
            <a:off x="6144848" y="934348"/>
            <a:ext cx="2930801" cy="4209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3"/>
          <p:cNvSpPr txBox="1"/>
          <p:nvPr/>
        </p:nvSpPr>
        <p:spPr>
          <a:xfrm>
            <a:off x="2249427" y="1442625"/>
            <a:ext cx="35151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مواءمة الفكرة :</a:t>
            </a:r>
            <a:endParaRPr sz="2800" b="1" i="0" u="none" strike="noStrike" cap="none">
              <a:solidFill>
                <a:srgbClr val="D30D3A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225" name="Google Shape;225;p33"/>
          <p:cNvSpPr txBox="1"/>
          <p:nvPr/>
        </p:nvSpPr>
        <p:spPr>
          <a:xfrm>
            <a:off x="2045327" y="2106600"/>
            <a:ext cx="3719100" cy="21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حدّد في هذه الصفحة:</a:t>
            </a:r>
            <a:endParaRPr/>
          </a:p>
          <a:p>
            <a:pPr marL="0" marR="0" lvl="0" indent="0" algn="r" rtl="1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المسار الذي اخترته</a:t>
            </a:r>
            <a:endParaRPr/>
          </a:p>
          <a:p>
            <a:pPr marL="0" marR="0" lvl="0" indent="0" algn="r" rtl="1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التحدي الذي تعمل عليه ضمن المسار</a:t>
            </a:r>
            <a:endParaRPr/>
          </a:p>
          <a:p>
            <a:pPr marL="0" marR="0" lvl="0" indent="0" algn="r" rtl="1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ثم صف كيف تعالج فكرتك هذا التحدي تحديدًا، وما القيمة التي تضيفها.</a:t>
            </a:r>
            <a:endParaRPr/>
          </a:p>
        </p:txBody>
      </p:sp>
      <p:pic>
        <p:nvPicPr>
          <p:cNvPr id="226" name="Google Shape;226;p33" title="shutterstock_385335934.jpg"/>
          <p:cNvPicPr preferRelativeResize="0"/>
          <p:nvPr/>
        </p:nvPicPr>
        <p:blipFill rotWithShape="1">
          <a:blip r:embed="rId4">
            <a:alphaModFix/>
          </a:blip>
          <a:srcRect l="24017" r="38005"/>
          <a:stretch/>
        </p:blipFill>
        <p:spPr>
          <a:xfrm>
            <a:off x="6213200" y="0"/>
            <a:ext cx="29308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34" title="shutterstock_385335934.jpg"/>
          <p:cNvPicPr preferRelativeResize="0"/>
          <p:nvPr/>
        </p:nvPicPr>
        <p:blipFill rotWithShape="1">
          <a:blip r:embed="rId4">
            <a:alphaModFix/>
          </a:blip>
          <a:srcRect l="24017" r="38005"/>
          <a:stretch/>
        </p:blipFill>
        <p:spPr>
          <a:xfrm>
            <a:off x="6213200" y="0"/>
            <a:ext cx="29308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4"/>
          <p:cNvSpPr txBox="1"/>
          <p:nvPr/>
        </p:nvSpPr>
        <p:spPr>
          <a:xfrm>
            <a:off x="2150625" y="1551263"/>
            <a:ext cx="35151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ملخص</a:t>
            </a:r>
            <a:endParaRPr sz="2800" b="1" i="0" u="none" strike="noStrike" cap="none">
              <a:solidFill>
                <a:srgbClr val="D30D3A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233" name="Google Shape;233;p34"/>
          <p:cNvSpPr txBox="1"/>
          <p:nvPr/>
        </p:nvSpPr>
        <p:spPr>
          <a:xfrm>
            <a:off x="1946525" y="2215238"/>
            <a:ext cx="3719100" cy="13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يقدم هذا القسم لمحة عامة عن المشروع بشكل شامل، بما في ذلك أهدافه، مخرجاته، وأهم النتائج التي تم الوصول إليها.</a:t>
            </a:r>
            <a:endParaRPr sz="14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5"/>
          <p:cNvSpPr txBox="1"/>
          <p:nvPr/>
        </p:nvSpPr>
        <p:spPr>
          <a:xfrm>
            <a:off x="4916400" y="989225"/>
            <a:ext cx="3541200" cy="9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الاختبار/التحقق:</a:t>
            </a:r>
            <a:endParaRPr sz="2800" b="1" i="0" u="none" strike="noStrike" cap="none">
              <a:solidFill>
                <a:srgbClr val="D30D3A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239" name="Google Shape;239;p35"/>
          <p:cNvSpPr txBox="1"/>
          <p:nvPr/>
        </p:nvSpPr>
        <p:spPr>
          <a:xfrm>
            <a:off x="1713225" y="1898050"/>
            <a:ext cx="7099200" cy="9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i="0" u="none" strike="noStrike" cap="none">
                <a:solidFill>
                  <a:schemeClr val="lt1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ما هي النتائج الأولية أو النماذج الأولية التي قمت بتطويرها؟</a:t>
            </a:r>
            <a:r>
              <a:rPr lang="en" sz="1600" b="0" i="0" u="none" strike="noStrike" cap="none">
                <a:solidFill>
                  <a:srgbClr val="C36B4E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 </a:t>
            </a:r>
            <a:r>
              <a:rPr lang="en" sz="1600" b="0" i="0" u="none" strike="noStrike" cap="none">
                <a:solidFill>
                  <a:srgbClr val="8980B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(على سبيل المثال، "قمنا باختبار نموذج تحليل الوضعيات على 50 مقطع فيديو تجريبي")</a:t>
            </a:r>
            <a:endParaRPr sz="1600" b="0" i="0" u="none" strike="noStrike" cap="none">
              <a:solidFill>
                <a:srgbClr val="C36B4E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  <a:p>
            <a:pPr marL="0" marR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C36B4E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6"/>
          <p:cNvSpPr txBox="1"/>
          <p:nvPr/>
        </p:nvSpPr>
        <p:spPr>
          <a:xfrm>
            <a:off x="2094225" y="989225"/>
            <a:ext cx="6363300" cy="11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العرض التوضيحي/اللقطات/الفيديوهات/المحاكاة:</a:t>
            </a:r>
            <a:endParaRPr sz="2800" b="1" i="0" u="none" strike="noStrike" cap="none">
              <a:solidFill>
                <a:srgbClr val="D30D3A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245" name="Google Shape;245;p36"/>
          <p:cNvSpPr txBox="1"/>
          <p:nvPr/>
        </p:nvSpPr>
        <p:spPr>
          <a:xfrm>
            <a:off x="1826050" y="3636376"/>
            <a:ext cx="6631500" cy="9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تذكر: الهدف من ذلك هو إظهار ما إذا كان قد تم إنجاز 30% من المشروع.</a:t>
            </a:r>
            <a:endParaRPr sz="16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7"/>
          <p:cNvSpPr txBox="1"/>
          <p:nvPr/>
        </p:nvSpPr>
        <p:spPr>
          <a:xfrm>
            <a:off x="3619750" y="989225"/>
            <a:ext cx="4837800" cy="6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التحديات والخطط المستقبلية</a:t>
            </a:r>
            <a:endParaRPr sz="2800" b="1" i="0" u="none" strike="noStrike" cap="none">
              <a:solidFill>
                <a:srgbClr val="D30D3A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grpSp>
        <p:nvGrpSpPr>
          <p:cNvPr id="251" name="Google Shape;251;p37"/>
          <p:cNvGrpSpPr/>
          <p:nvPr/>
        </p:nvGrpSpPr>
        <p:grpSpPr>
          <a:xfrm>
            <a:off x="1984475" y="1792252"/>
            <a:ext cx="3071501" cy="1242306"/>
            <a:chOff x="2329925" y="1939327"/>
            <a:chExt cx="3071501" cy="1242306"/>
          </a:xfrm>
        </p:grpSpPr>
        <p:sp>
          <p:nvSpPr>
            <p:cNvPr id="252" name="Google Shape;252;p37"/>
            <p:cNvSpPr txBox="1"/>
            <p:nvPr/>
          </p:nvSpPr>
          <p:spPr>
            <a:xfrm>
              <a:off x="2329925" y="2013900"/>
              <a:ext cx="2772600" cy="107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r" rtl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 dirty="0">
                  <a:solidFill>
                    <a:srgbClr val="8980BC"/>
                  </a:solidFill>
                  <a:latin typeface="IBM Plex Sans Arabic Medium"/>
                  <a:ea typeface="IBM Plex Sans Arabic Medium"/>
                  <a:cs typeface="IBM Plex Sans Arabic Medium"/>
                  <a:sym typeface="IBM Plex Sans Arabic Medium"/>
                </a:rPr>
                <a:t>ما تحتاج إلى مساعدة فيه:</a:t>
              </a:r>
              <a:endParaRPr sz="1600" b="0" i="0" u="none" strike="noStrike" cap="none" dirty="0">
                <a:solidFill>
                  <a:srgbClr val="8980B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endParaRPr>
            </a:p>
            <a:p>
              <a:pPr marL="0" marR="0" lvl="0" indent="0" algn="just" rtl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 b="0" i="0" u="none" strike="noStrike" cap="none" dirty="0">
                  <a:solidFill>
                    <a:srgbClr val="C36B4E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 </a:t>
              </a:r>
              <a:r>
                <a:rPr lang="en" sz="1100" b="0" i="0" u="none" strike="noStrike" cap="none" dirty="0">
                  <a:solidFill>
                    <a:schemeClr val="lt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كيف يمكن للمنظمين أو المرشدين مساعدتك؟ (مثل توفير الوصول إلى واجهات برمجية API أو الأجهزة المطلوبة).</a:t>
              </a:r>
              <a:endParaRPr sz="1300" b="0" i="0" u="none" strike="noStrike" cap="none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endParaRPr>
            </a:p>
          </p:txBody>
        </p:sp>
        <p:pic>
          <p:nvPicPr>
            <p:cNvPr id="253" name="Google Shape;253;p37" title="books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159120" y="1939327"/>
              <a:ext cx="1242306" cy="124230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4" name="Google Shape;254;p37"/>
          <p:cNvGrpSpPr/>
          <p:nvPr/>
        </p:nvGrpSpPr>
        <p:grpSpPr>
          <a:xfrm>
            <a:off x="5845425" y="1792252"/>
            <a:ext cx="2473126" cy="1242306"/>
            <a:chOff x="5786925" y="1831477"/>
            <a:chExt cx="2473126" cy="1242306"/>
          </a:xfrm>
        </p:grpSpPr>
        <p:sp>
          <p:nvSpPr>
            <p:cNvPr id="255" name="Google Shape;255;p37"/>
            <p:cNvSpPr txBox="1"/>
            <p:nvPr/>
          </p:nvSpPr>
          <p:spPr>
            <a:xfrm>
              <a:off x="5786925" y="1939325"/>
              <a:ext cx="2244600" cy="102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just" rtl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8980BC"/>
                  </a:solidFill>
                  <a:latin typeface="IBM Plex Sans Arabic Medium"/>
                  <a:ea typeface="IBM Plex Sans Arabic Medium"/>
                  <a:cs typeface="IBM Plex Sans Arabic Medium"/>
                  <a:sym typeface="IBM Plex Sans Arabic Medium"/>
                </a:rPr>
                <a:t>التحديات:</a:t>
              </a:r>
              <a:br>
                <a:rPr lang="en" sz="1400" b="0" i="0" u="none" strike="noStrike" cap="none">
                  <a:solidFill>
                    <a:schemeClr val="lt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</a:br>
              <a:r>
                <a:rPr lang="en" sz="1100" b="0" i="0" u="none" strike="noStrike" cap="none">
                  <a:solidFill>
                    <a:schemeClr val="lt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 ما هي العوائق التي تواجهك؟ (مثل غياب الأدلة التجريبية أو القيود الحسابية).</a:t>
              </a:r>
              <a:endParaRPr sz="110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endParaRPr>
            </a:p>
          </p:txBody>
        </p:sp>
        <p:pic>
          <p:nvPicPr>
            <p:cNvPr id="256" name="Google Shape;256;p37" title="books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017745" y="1831477"/>
              <a:ext cx="1242306" cy="124230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7" name="Google Shape;257;p37"/>
          <p:cNvGrpSpPr/>
          <p:nvPr/>
        </p:nvGrpSpPr>
        <p:grpSpPr>
          <a:xfrm>
            <a:off x="5149675" y="3461552"/>
            <a:ext cx="3168876" cy="1242306"/>
            <a:chOff x="3215175" y="3491077"/>
            <a:chExt cx="3168876" cy="1242306"/>
          </a:xfrm>
        </p:grpSpPr>
        <p:sp>
          <p:nvSpPr>
            <p:cNvPr id="258" name="Google Shape;258;p37"/>
            <p:cNvSpPr txBox="1"/>
            <p:nvPr/>
          </p:nvSpPr>
          <p:spPr>
            <a:xfrm>
              <a:off x="3215175" y="3598925"/>
              <a:ext cx="2968500" cy="102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just" rtl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8980BC"/>
                  </a:solidFill>
                  <a:latin typeface="IBM Plex Sans Arabic Medium"/>
                  <a:ea typeface="IBM Plex Sans Arabic Medium"/>
                  <a:cs typeface="IBM Plex Sans Arabic Medium"/>
                  <a:sym typeface="IBM Plex Sans Arabic Medium"/>
                </a:rPr>
                <a:t>العرض المستقبلي:</a:t>
              </a:r>
              <a:br>
                <a:rPr lang="en" sz="14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" sz="1100" b="0" i="0" u="none" strike="noStrike" cap="none">
                  <a:solidFill>
                    <a:srgbClr val="C36B4E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 </a:t>
              </a:r>
              <a:r>
                <a:rPr lang="en" sz="1100" b="0" i="0" u="none" strike="noStrike" cap="none">
                  <a:solidFill>
                    <a:schemeClr val="lt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تأكد من عرض خارطة الطريق التي تغطي 70% من التقدم، حيث تصف خطة الأسبوعين المقبلين والأهداف المرجو تحقيقها.</a:t>
              </a:r>
              <a:endParaRPr sz="80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endParaRPr>
            </a:p>
          </p:txBody>
        </p:sp>
        <p:pic>
          <p:nvPicPr>
            <p:cNvPr id="259" name="Google Shape;259;p37" title="books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41745" y="3491077"/>
              <a:ext cx="1242306" cy="124230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8"/>
          <p:cNvSpPr txBox="1"/>
          <p:nvPr/>
        </p:nvSpPr>
        <p:spPr>
          <a:xfrm>
            <a:off x="2349750" y="2383675"/>
            <a:ext cx="4837800" cy="17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lang="en" sz="52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شكراً</a:t>
            </a:r>
            <a:endParaRPr sz="52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pic>
        <p:nvPicPr>
          <p:cNvPr id="265" name="Google Shape;265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95886" y="985996"/>
            <a:ext cx="977418" cy="640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8" title="logo misk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58834" y="792925"/>
            <a:ext cx="1944378" cy="1072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8" title="Riyadh Expo 2030(1).png"/>
          <p:cNvPicPr preferRelativeResize="0"/>
          <p:nvPr/>
        </p:nvPicPr>
        <p:blipFill rotWithShape="1">
          <a:blip r:embed="rId6">
            <a:alphaModFix/>
          </a:blip>
          <a:srcRect l="14448" t="33687" r="14448" b="33690"/>
          <a:stretch/>
        </p:blipFill>
        <p:spPr>
          <a:xfrm>
            <a:off x="2137332" y="1061327"/>
            <a:ext cx="1628005" cy="746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584</Words>
  <Application>Microsoft Office PowerPoint</Application>
  <PresentationFormat>On-screen Show (16:9)</PresentationFormat>
  <Paragraphs>71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IBM Plex Sans Arabic</vt:lpstr>
      <vt:lpstr>Arial</vt:lpstr>
      <vt:lpstr>IBM Plex Sans Arabic Medium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MUHAMAD ABDULAZIZ SALIH ZEID</cp:lastModifiedBy>
  <cp:revision>1</cp:revision>
  <dcterms:modified xsi:type="dcterms:W3CDTF">2026-10-15T08:29:36Z</dcterms:modified>
</cp:coreProperties>
</file>