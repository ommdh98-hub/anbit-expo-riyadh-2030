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IBM Plex Sans Arabic" panose="020B0604020202020204" charset="-78"/>
      <p:regular r:id="rId18"/>
      <p:bold r:id="rId19"/>
    </p:embeddedFont>
    <p:embeddedFont>
      <p:font typeface="IBM Plex Sans Arabic Medium" panose="020B0604020202020204" charset="-78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0" d="100"/>
          <a:sy n="130" d="100"/>
        </p:scale>
        <p:origin x="-312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3c1c94764568f31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h3c1c94764568f31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3c1c94764568f31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h3c1c94764568f31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c1c94764568f31_3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h3c1c94764568f31_3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c1c94764568f31_3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h3c1c94764568f31_3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3c1c94764568f31_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h3c1c94764568f31_3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3c1c94764568f31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h3c1c94764568f31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3c1c94764568f31_3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h3c1c94764568f31_3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3c1c94764568f31_3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h3c1c94764568f31_3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c1c94764568f31_3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h3c1c94764568f31_3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3c1c94764568f31_3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h3c1c94764568f31_3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c1c94764568f31_3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h3c1c94764568f31_3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c1c94764568f31_3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h3c1c94764568f31_3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3c1c94764568f31_3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h3c1c94764568f31_3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3c1c94764568f31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h3c1c94764568f31_3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14" title="hglsn.png"/>
          <p:cNvPicPr preferRelativeResize="0"/>
          <p:nvPr/>
        </p:nvPicPr>
        <p:blipFill rotWithShape="1">
          <a:blip r:embed="rId2">
            <a:alphaModFix/>
          </a:blip>
          <a:srcRect l="35846" t="2629" r="25951"/>
          <a:stretch/>
        </p:blipFill>
        <p:spPr>
          <a:xfrm>
            <a:off x="-144000" y="-122975"/>
            <a:ext cx="9445627" cy="52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-1838425" y="-1302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6E7D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/>
        </p:nvSpPr>
        <p:spPr>
          <a:xfrm>
            <a:off x="863550" y="2076707"/>
            <a:ext cx="7416900" cy="10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Arial"/>
              <a:buNone/>
            </a:pPr>
            <a:r>
              <a:rPr lang="ar-SA" sz="322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أَنْبِت</a:t>
            </a:r>
            <a:endParaRPr sz="3220" b="1" i="0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97" name="Google Shape;97;p25"/>
          <p:cNvSpPr txBox="1"/>
          <p:nvPr/>
        </p:nvSpPr>
        <p:spPr>
          <a:xfrm>
            <a:off x="863550" y="3190975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algn="ctr" rtl="1">
              <a:buSzPts val="2800"/>
            </a:pPr>
            <a:r>
              <a:rPr lang="ar-SA" sz="16000" b="1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فريق </a:t>
            </a:r>
            <a:r>
              <a:rPr lang="ar-SA" sz="16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أَنْبِت</a:t>
            </a: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SA" sz="28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endParaRPr sz="28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98" name="Google Shape;9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5" title="logo mis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 title="Riyadh Expo 2030(1).png"/>
          <p:cNvPicPr preferRelativeResize="0"/>
          <p:nvPr/>
        </p:nvPicPr>
        <p:blipFill rotWithShape="1">
          <a:blip r:embed="rId6">
            <a:alphaModFix/>
          </a:blip>
          <a:srcRect l="14448" t="33687" r="14448" b="33690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720000" y="1130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  <a:endParaRPr sz="28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4926974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6495906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6460913" y="2957095"/>
            <a:ext cx="1299849" cy="86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محمد زيد 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4666820" y="3004603"/>
            <a:ext cx="1595510" cy="81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عمر الفيفي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3006675" y="3052479"/>
            <a:ext cx="1638600" cy="76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مهند الشمراني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1383230" y="3052474"/>
            <a:ext cx="1638600" cy="76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SA" sz="14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عبدالله  اللحيدان </a:t>
            </a:r>
            <a:endParaRPr sz="14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680074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3303531" y="2007579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5725" y="2273225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7789" y="2273225"/>
            <a:ext cx="644983" cy="731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B8A293-450A-8F35-01D7-A761C647BD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097" t="13880" r="2292" b="20740"/>
          <a:stretch>
            <a:fillRect/>
          </a:stretch>
        </p:blipFill>
        <p:spPr>
          <a:xfrm>
            <a:off x="6482458" y="1841342"/>
            <a:ext cx="1211132" cy="12465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30AF83-3D93-AF84-2F72-11E0B81670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8" t="-60" r="-528" b="60"/>
          <a:stretch>
            <a:fillRect/>
          </a:stretch>
        </p:blipFill>
        <p:spPr>
          <a:xfrm>
            <a:off x="4843858" y="1841342"/>
            <a:ext cx="1211132" cy="12111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70066D-F9E1-5888-7647-3D3693E4F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868" y="1841343"/>
            <a:ext cx="1211132" cy="1246564"/>
          </a:xfrm>
          <a:prstGeom prst="roundRect">
            <a:avLst>
              <a:gd name="adj" fmla="val 175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305870-B80E-D4F3-0B46-EB59BDCE38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4045" t="7025" r="13573" b="9511"/>
          <a:stretch>
            <a:fillRect/>
          </a:stretch>
        </p:blipFill>
        <p:spPr>
          <a:xfrm>
            <a:off x="1654693" y="1845957"/>
            <a:ext cx="1211132" cy="1246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/>
        </p:nvSpPr>
        <p:spPr>
          <a:xfrm>
            <a:off x="677425" y="1054150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المحتويات:</a:t>
            </a:r>
            <a:endParaRPr sz="28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6035350" y="179642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 </a:t>
            </a:r>
            <a:endParaRPr sz="152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7697600" y="179642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01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6035350" y="245597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وحلها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7697600" y="24559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02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5743275" y="3141675"/>
            <a:ext cx="1878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7697600" y="31416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03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035350" y="380122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7697600" y="380122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04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1645150" y="1796425"/>
            <a:ext cx="3797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جميع البيانات المستخدمة </a:t>
            </a:r>
            <a:r>
              <a:rPr lang="ar-SA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</a:t>
            </a: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نصية وغير نصية</a:t>
            </a:r>
            <a:r>
              <a:rPr lang="ar-SA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5518425" y="179642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05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1100275" y="2455975"/>
            <a:ext cx="4342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هذه البيانات وكيفية استخدامها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5518425" y="24559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06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3358025" y="3141675"/>
            <a:ext cx="208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lang="en" sz="152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  <a:endParaRPr sz="152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5518425" y="3141675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07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6057900" y="833150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والحل</a:t>
            </a:r>
            <a:endParaRPr sz="28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826100" y="1476175"/>
            <a:ext cx="6631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 rtl="1">
              <a:buSzPts val="900"/>
            </a:pPr>
            <a:r>
              <a:rPr lang="ar-SA" sz="900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حساسات رطوبة التربة تقيس نقاطًا محدودة لا تمثّل المسطح الأخضر كله، فيصعب تحديد وقت الري وكميته، ويزيد احتمال الري الزائد أو الإجهاد المائي.</a:t>
            </a:r>
            <a:endParaRPr sz="9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1742859" y="2064697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‫تقدير رطوبة الأقسام بلا حساس، بمعايرة الجفاف من أقرب الحساسات داخل المحاكاة.‬</a:t>
            </a:r>
            <a:endParaRPr sz="9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1742859" y="2837194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‫الرطوبة الحالية والمستهدفة، والاحتياج باللتر والموعد، مع بيان مصدر الرقم وشروط القرار.‬</a:t>
            </a:r>
            <a:endParaRPr sz="9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1742859" y="3633604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‫محاكاة مستقلة تقارن أنبت بالجدول الثابت والري بالحساسات فقط، على الطقس المفترض نفسه.‬</a:t>
            </a:r>
            <a:endParaRPr sz="9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5498596" y="2084686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ar-SA" sz="1500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‫حساسات افتراضية‬</a:t>
            </a:r>
            <a:r>
              <a:rPr lang="ar-SA" sz="1500" dirty="0" err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/>
            </a:r>
            <a:r>
              <a:rPr lang="ar-SA" sz="1500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/>
            </a:r>
            <a:endParaRPr sz="15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5487775" y="2837194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‫قرار ري واضح‬</a:t>
            </a:r>
            <a:endParaRPr sz="15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87775" y="3633604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‫توأم رقمي للمقارنة‬</a:t>
            </a:r>
            <a:endParaRPr sz="1500" b="0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49" name="Google Shape;149;p28"/>
          <p:cNvGrpSpPr/>
          <p:nvPr/>
        </p:nvGrpSpPr>
        <p:grpSpPr>
          <a:xfrm>
            <a:off x="7972475" y="2059231"/>
            <a:ext cx="485125" cy="639432"/>
            <a:chOff x="7753313" y="2059231"/>
            <a:chExt cx="485125" cy="639432"/>
          </a:xfrm>
        </p:grpSpPr>
        <p:pic>
          <p:nvPicPr>
            <p:cNvPr id="150" name="Google Shape;150;p28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8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28"/>
          <p:cNvGrpSpPr/>
          <p:nvPr/>
        </p:nvGrpSpPr>
        <p:grpSpPr>
          <a:xfrm>
            <a:off x="8020800" y="2848776"/>
            <a:ext cx="388475" cy="584313"/>
            <a:chOff x="7849975" y="3023575"/>
            <a:chExt cx="388475" cy="584313"/>
          </a:xfrm>
        </p:grpSpPr>
        <p:pic>
          <p:nvPicPr>
            <p:cNvPr id="153" name="Google Shape;153;p28" title="trending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849975" y="3023575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8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9975" y="3219413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28"/>
          <p:cNvGrpSpPr/>
          <p:nvPr/>
        </p:nvGrpSpPr>
        <p:grpSpPr>
          <a:xfrm>
            <a:off x="8003424" y="3583230"/>
            <a:ext cx="423226" cy="565597"/>
            <a:chOff x="7815224" y="3702152"/>
            <a:chExt cx="423226" cy="565597"/>
          </a:xfrm>
        </p:grpSpPr>
        <p:pic>
          <p:nvPicPr>
            <p:cNvPr id="156" name="Google Shape;156;p28" title="flash-sale-2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15224" y="3702152"/>
              <a:ext cx="423224" cy="42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8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9975" y="3879274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4916400" y="833150"/>
            <a:ext cx="354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  <a:endParaRPr sz="28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1826100" y="1349823"/>
            <a:ext cx="6631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قراءات عرض يدوية، وبيانات نباتات، وقياسات بحثية، وسجلات محاكاة منفصلة.</a:t>
            </a:r>
            <a:endParaRPr sz="9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968100" y="2021083"/>
            <a:ext cx="74895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21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قاعدة الفريق: 17 نباتًا و14 مدينة و86,870 سجل ري غير متحقق المصدر؛ المستكشف للنباتات والمدن فقط.</a:t>
            </a: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457200" marR="0" lvl="0" indent="-2921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Turfgrass المقاسة (Zenodo 10972539): بحث للتنبؤ برطوبة التربة ومقارنتها بخط الاستمرار.</a:t>
            </a: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457200" marR="0" lvl="0" indent="-2921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lang="en" sz="10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15,420 سجل محاكاة لتدريب شجرة التوأم. أداة SMAP اختيارية، وبياناتها غير متاحة حاليًا.</a:t>
            </a: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65" name="Google Shape;165;p29" title="Untitled-3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7738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465900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86,870</a:t>
            </a:r>
            <a:endParaRPr sz="22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2465900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‫سجل ري‬</a:t>
            </a:r>
            <a:endParaRPr sz="1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68" name="Google Shape;168;p29" title="Untitled-3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5506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4673669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17</a:t>
            </a:r>
            <a:endParaRPr sz="22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673669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‫نباتًا‬</a:t>
            </a:r>
            <a:endParaRPr sz="1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71" name="Google Shape;171;p29" title="Untitled-3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3275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6881438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14</a:t>
            </a:r>
            <a:endParaRPr sz="22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6881438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‫مدينة‬</a:t>
            </a:r>
            <a:endParaRPr sz="1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5006100" y="833150"/>
            <a:ext cx="345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sz="25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581425" y="1678103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‫الواجهة: Next.js وReact وTypeScript، بالعربية والإنجليزية والمظهرين الفاتح والداكن.‬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0" name="Google Shape;180;p30"/>
          <p:cNvGrpSpPr/>
          <p:nvPr/>
        </p:nvGrpSpPr>
        <p:grpSpPr>
          <a:xfrm>
            <a:off x="7840450" y="1668450"/>
            <a:ext cx="485125" cy="639432"/>
            <a:chOff x="7753313" y="2059231"/>
            <a:chExt cx="485125" cy="639432"/>
          </a:xfrm>
        </p:grpSpPr>
        <p:pic>
          <p:nvPicPr>
            <p:cNvPr id="181" name="Google Shape;181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30"/>
          <p:cNvSpPr txBox="1"/>
          <p:nvPr/>
        </p:nvSpPr>
        <p:spPr>
          <a:xfrm>
            <a:off x="577925" y="1678103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‫التوأم الرقمي: محاكاة حتمية في المتصفح بخطوة 15 دقيقة، منفصلة عن بيانات التشغيل.‬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4" name="Google Shape;184;p30"/>
          <p:cNvGrpSpPr/>
          <p:nvPr/>
        </p:nvGrpSpPr>
        <p:grpSpPr>
          <a:xfrm>
            <a:off x="3836950" y="1668450"/>
            <a:ext cx="485125" cy="639432"/>
            <a:chOff x="7753313" y="2059231"/>
            <a:chExt cx="485125" cy="639432"/>
          </a:xfrm>
        </p:grpSpPr>
        <p:pic>
          <p:nvPicPr>
            <p:cNvPr id="185" name="Google Shape;185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30"/>
          <p:cNvSpPr txBox="1"/>
          <p:nvPr/>
        </p:nvSpPr>
        <p:spPr>
          <a:xfrm>
            <a:off x="4581425" y="2764090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‫الخلفية: FastAPI وPython مع SQLModel وSQLite، وجلسات دخول محمية.‬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8" name="Google Shape;188;p30"/>
          <p:cNvGrpSpPr/>
          <p:nvPr/>
        </p:nvGrpSpPr>
        <p:grpSpPr>
          <a:xfrm>
            <a:off x="7840450" y="2754437"/>
            <a:ext cx="485125" cy="639432"/>
            <a:chOff x="7753313" y="2059231"/>
            <a:chExt cx="485125" cy="639432"/>
          </a:xfrm>
        </p:grpSpPr>
        <p:pic>
          <p:nvPicPr>
            <p:cNvPr id="189" name="Google Shape;189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30"/>
          <p:cNvSpPr txBox="1"/>
          <p:nvPr/>
        </p:nvSpPr>
        <p:spPr>
          <a:xfrm>
            <a:off x="577925" y="2764090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‫تعلم الآلة: شجرة مدرّبة على المحاكاة للتوأم، وبحث مستقل بنموذج Ridge وأشجار معززة.‬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92" name="Google Shape;192;p30"/>
          <p:cNvGrpSpPr/>
          <p:nvPr/>
        </p:nvGrpSpPr>
        <p:grpSpPr>
          <a:xfrm>
            <a:off x="3836950" y="2754437"/>
            <a:ext cx="485125" cy="639432"/>
            <a:chOff x="7753313" y="2059231"/>
            <a:chExt cx="485125" cy="639432"/>
          </a:xfrm>
        </p:grpSpPr>
        <p:pic>
          <p:nvPicPr>
            <p:cNvPr id="193" name="Google Shape;193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30"/>
          <p:cNvSpPr txBox="1"/>
          <p:nvPr/>
        </p:nvSpPr>
        <p:spPr>
          <a:xfrm>
            <a:off x="4581425" y="3850078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‫محرك القرار: قواعد مفسّرة تتحقق من القراءات والتغطية، وتحسب الاحتياج عند كفاية البيانات.‬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96" name="Google Shape;196;p30"/>
          <p:cNvGrpSpPr/>
          <p:nvPr/>
        </p:nvGrpSpPr>
        <p:grpSpPr>
          <a:xfrm>
            <a:off x="7840450" y="3840425"/>
            <a:ext cx="485125" cy="639432"/>
            <a:chOff x="7753313" y="2059231"/>
            <a:chExt cx="485125" cy="639432"/>
          </a:xfrm>
        </p:grpSpPr>
        <p:pic>
          <p:nvPicPr>
            <p:cNvPr id="197" name="Google Shape;197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30"/>
          <p:cNvSpPr txBox="1"/>
          <p:nvPr/>
        </p:nvSpPr>
        <p:spPr>
          <a:xfrm>
            <a:off x="577925" y="3850078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‫الجودة: 96 اختبار واجهة و136 اختبار خلفية، وفحوص TypeScript وESLint وبناء الإنتاج.‬</a:t>
            </a:r>
            <a:endParaRPr sz="11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200" name="Google Shape;200;p30"/>
          <p:cNvGrpSpPr/>
          <p:nvPr/>
        </p:nvGrpSpPr>
        <p:grpSpPr>
          <a:xfrm>
            <a:off x="3836950" y="3840425"/>
            <a:ext cx="485125" cy="639432"/>
            <a:chOff x="7753313" y="2059231"/>
            <a:chExt cx="485125" cy="639432"/>
          </a:xfrm>
        </p:grpSpPr>
        <p:pic>
          <p:nvPicPr>
            <p:cNvPr id="201" name="Google Shape;201;p30" title="Untitled-5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0" title="idea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1" title="shutterstock_452767891.jpg"/>
          <p:cNvPicPr preferRelativeResize="0"/>
          <p:nvPr/>
        </p:nvPicPr>
        <p:blipFill rotWithShape="1">
          <a:blip r:embed="rId4">
            <a:alphaModFix/>
          </a:blip>
          <a:srcRect l="10670" r="56019" b="2220"/>
          <a:stretch/>
        </p:blipFill>
        <p:spPr>
          <a:xfrm>
            <a:off x="6449217" y="0"/>
            <a:ext cx="2694784" cy="5143501"/>
          </a:xfrm>
          <a:prstGeom prst="rect">
            <a:avLst/>
          </a:prstGeom>
          <a:solidFill>
            <a:srgbClr val="C36B4E"/>
          </a:solidFill>
          <a:ln>
            <a:noFill/>
          </a:ln>
        </p:spPr>
      </p:pic>
      <p:pic>
        <p:nvPicPr>
          <p:cNvPr id="208" name="Google Shape;208;p31" title="shutterstock_2308548581.png"/>
          <p:cNvPicPr preferRelativeResize="0"/>
          <p:nvPr/>
        </p:nvPicPr>
        <p:blipFill rotWithShape="1">
          <a:blip r:embed="rId5">
            <a:alphaModFix/>
          </a:blip>
          <a:srcRect b="7570"/>
          <a:stretch/>
        </p:blipFill>
        <p:spPr>
          <a:xfrm>
            <a:off x="6935125" y="671075"/>
            <a:ext cx="1901925" cy="44724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2387786" y="2557563"/>
            <a:ext cx="3098400" cy="1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أنبت يدعم فرق المسطحات الخضراء: يقترح أين نقيس عند نقص البيانات، ويعرض الرطوبة والاحتياج والموعد مع مصدر الرقم، ويفصل التوصية عن الاعتماد والتنفيذ.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2387786" y="2151363"/>
            <a:ext cx="3098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نقيس أولًا، ثم نقرر</a:t>
            </a:r>
            <a:endParaRPr sz="2500" b="0" i="0" u="none" strike="noStrike" cap="none">
              <a:solidFill>
                <a:srgbClr val="8980B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3086486" y="1273438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  <a:endParaRPr sz="25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/>
        </p:nvSpPr>
        <p:spPr>
          <a:xfrm>
            <a:off x="2355199" y="2539138"/>
            <a:ext cx="3517500" cy="1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القراءات: أحدث قياس يدوي متحقق لكل نقطة.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النباتات والمدن: بيانات الفريق للمستكشف والدليل.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التوأم: طقس مفترض، وثلاث طرق ري بلا حفظ.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البحث: قياسات لاختبار التنبؤ قبل التشغيل.</a:t>
            </a:r>
            <a:endParaRPr sz="12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083050" y="1291863"/>
            <a:ext cx="3789900" cy="1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هذه البيانات وكيفية استخدامها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18" name="Google Shape;218;p32" title="shutterstock_2303267969.jpg"/>
          <p:cNvPicPr preferRelativeResize="0"/>
          <p:nvPr/>
        </p:nvPicPr>
        <p:blipFill rotWithShape="1">
          <a:blip r:embed="rId4">
            <a:alphaModFix/>
          </a:blip>
          <a:srcRect l="66924" t="12907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 title="shutterstock_2627921973.png"/>
          <p:cNvPicPr preferRelativeResize="0"/>
          <p:nvPr/>
        </p:nvPicPr>
        <p:blipFill rotWithShape="1">
          <a:blip r:embed="rId5">
            <a:alphaModFix/>
          </a:blip>
          <a:srcRect l="6001" t="-834" r="46818" b="-834"/>
          <a:stretch/>
        </p:blipFill>
        <p:spPr>
          <a:xfrm>
            <a:off x="6144848" y="934348"/>
            <a:ext cx="2930801" cy="420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2249427" y="1442625"/>
            <a:ext cx="35151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مواءمة الفكرة :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2045327" y="2106600"/>
            <a:ext cx="37191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المسار والتحدي:</a:t>
            </a:r>
            <a:endParaRPr/>
          </a:p>
          <a:p>
            <a:pPr marL="0" marR="0" lvl="0" indent="0" algn="r" rtl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 2.1: الاستدامة والأثر البيئي</a:t>
            </a:r>
            <a:endParaRPr/>
          </a:p>
          <a:p>
            <a:pPr marL="0" marR="0" lvl="0" indent="0" algn="r" rtl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المشكلة: نقص تغطية حساسات رطوبة التربة</a:t>
            </a:r>
            <a:endParaRPr/>
          </a:p>
          <a:p>
            <a:pPr marL="0" marR="0" lvl="0" indent="0" algn="r" rtl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يكشف أنبت فجوات القياس، ويقدّر الرطوبة داخل المحاكاة، ويشرح الاحتياج والموعد. يدعم الحد من الري الزائد ويوثّق الاستهلاك، مع بقاء الأثر الميداني بحاجة إلى تحقق.</a:t>
            </a:r>
            <a:endParaRPr/>
          </a:p>
        </p:txBody>
      </p:sp>
      <p:pic>
        <p:nvPicPr>
          <p:cNvPr id="226" name="Google Shape;226;p33" title="shutterstock_385335934.jpg"/>
          <p:cNvPicPr preferRelativeResize="0"/>
          <p:nvPr/>
        </p:nvPicPr>
        <p:blipFill rotWithShape="1">
          <a:blip r:embed="rId4">
            <a:alphaModFix/>
          </a:blip>
          <a:srcRect l="24017" r="38005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 title="shutterstock_385335934.jpg"/>
          <p:cNvPicPr preferRelativeResize="0"/>
          <p:nvPr/>
        </p:nvPicPr>
        <p:blipFill rotWithShape="1">
          <a:blip r:embed="rId4">
            <a:alphaModFix/>
          </a:blip>
          <a:srcRect l="24017" r="38005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2150625" y="1551263"/>
            <a:ext cx="35151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1946525" y="2215238"/>
            <a:ext cx="37191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أنبت يحوّل القراءات المحدودة إلى قرار واضح: أين نقيس، وكم نروي، ومتى. النموذج يعمل بدورين، مع توأم يقارن ثلاث طرق ري وتقارير قابلة للطباعة والتصدير. تلي ذلك حساسات وطقس حقيقيان لقياس التوفير ميدانيًا.</a:t>
            </a:r>
            <a:endParaRPr sz="14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4916400" y="989225"/>
            <a:ext cx="35412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الاختبار/التحقق: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1713225" y="1898050"/>
            <a:ext cx="70992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محاكاة الرياض: 28 يومًا و5 بذور لكل موسم. الربيع: مياه أقل 32.2% من الثابت الموحّد و15.5% من الحساسات.</a:t>
            </a:r>
            <a:r>
              <a:rPr lang="en" sz="1600" b="0" i="0" u="none" strike="noStrike" cap="none">
                <a:solidFill>
                  <a:srgbClr val="C36B4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  <a:r>
              <a:rPr lang="en" sz="1600" b="0" i="0" u="none" strike="noStrike" cap="none">
                <a:solidFill>
                  <a:srgbClr val="8980B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الصيف: مياه أكثر 7.2%، إجهاد أقل 78%، نطاق صحي 92.8%. نجح 96 اختبار واجهة و136 خلفية.</a:t>
            </a:r>
            <a:endParaRPr sz="1600" b="0" i="0" u="none" strike="noStrike" cap="none">
              <a:solidFill>
                <a:srgbClr val="C36B4E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2094225" y="989225"/>
            <a:ext cx="6363300" cy="1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التوضيحي/اللقطات/الفيديوهات/المحاكاة: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1826050" y="3636376"/>
            <a:ext cx="66315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لقطات من النموذج الأولي العامل: تسجيل الدخول، والرئيسية لفرق المسطحات الخضراء، والتوأم الرقمي ونتائجه، وصفحة الأفراد.</a:t>
            </a:r>
            <a:endParaRPr sz="16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3619750" y="989225"/>
            <a:ext cx="48378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‫التحديات والخطط المستقبلية‬</a:t>
            </a:r>
            <a:endParaRPr sz="2800" b="1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251" name="Google Shape;251;p37"/>
          <p:cNvGrpSpPr/>
          <p:nvPr/>
        </p:nvGrpSpPr>
        <p:grpSpPr>
          <a:xfrm>
            <a:off x="1984475" y="1792252"/>
            <a:ext cx="3071501" cy="1242306"/>
            <a:chOff x="2329925" y="1939327"/>
            <a:chExt cx="3071501" cy="1242306"/>
          </a:xfrm>
        </p:grpSpPr>
        <p:sp>
          <p:nvSpPr>
            <p:cNvPr id="252" name="Google Shape;252;p37"/>
            <p:cNvSpPr txBox="1"/>
            <p:nvPr/>
          </p:nvSpPr>
          <p:spPr>
            <a:xfrm>
              <a:off x="2329925" y="2013900"/>
              <a:ext cx="2772600" cy="10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 dirty="0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ما نحتاج مساعدة فيه:</a:t>
              </a:r>
              <a:endParaRPr sz="1600" b="0" i="0" u="none" strike="noStrike" cap="none" dirty="0">
                <a:solidFill>
                  <a:srgbClr val="8980B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endParaRPr>
            </a:p>
            <a:p>
              <a:pPr marL="0" marR="0" lvl="0" indent="0" algn="just" rtl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 dirty="0">
                  <a:solidFill>
                    <a:srgbClr val="C36B4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  <a:r>
                <a:rPr lang="en" sz="1100" b="0" i="0" u="none" strike="noStrike" cap="none" dirty="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حساسات تربة وطقس عبر API، وقياسات من موقع إكسبو بإشراف مرشد زراعي.</a:t>
              </a:r>
              <a:endParaRPr sz="1300" b="0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3" name="Google Shape;253;p37" title="book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59120" y="193932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37"/>
          <p:cNvGrpSpPr/>
          <p:nvPr/>
        </p:nvGrpSpPr>
        <p:grpSpPr>
          <a:xfrm>
            <a:off x="5845425" y="1792252"/>
            <a:ext cx="2473126" cy="1242306"/>
            <a:chOff x="5786925" y="1831477"/>
            <a:chExt cx="2473126" cy="1242306"/>
          </a:xfrm>
        </p:grpSpPr>
        <p:sp>
          <p:nvSpPr>
            <p:cNvPr id="255" name="Google Shape;255;p37"/>
            <p:cNvSpPr txBox="1"/>
            <p:nvPr/>
          </p:nvSpPr>
          <p:spPr>
            <a:xfrm>
              <a:off x="5786925" y="1939325"/>
              <a:ext cx="2244600" cy="10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just" rtl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التحديات: </a:t>
              </a:r>
              <a:r>
                <a:rPr lang="en" sz="1100" b="0" i="0" u="none" strike="noStrike" cap="non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غياب التحقق الميداني، والتدريب على المحاكاة، وصعوبة المعايرة بلا أجهزة.</a:t>
              </a:r>
              <a:endParaRPr sz="11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6" name="Google Shape;256;p37" title="book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17745" y="183147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37"/>
          <p:cNvGrpSpPr/>
          <p:nvPr/>
        </p:nvGrpSpPr>
        <p:grpSpPr>
          <a:xfrm>
            <a:off x="5149675" y="3461552"/>
            <a:ext cx="3168876" cy="1242306"/>
            <a:chOff x="3215175" y="3491077"/>
            <a:chExt cx="3168876" cy="1242306"/>
          </a:xfrm>
        </p:grpSpPr>
        <p:sp>
          <p:nvSpPr>
            <p:cNvPr id="258" name="Google Shape;258;p37"/>
            <p:cNvSpPr txBox="1"/>
            <p:nvPr/>
          </p:nvSpPr>
          <p:spPr>
            <a:xfrm>
              <a:off x="3215175" y="3598925"/>
              <a:ext cx="2968500" cy="10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just" rtl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العرض المستقبلي: </a:t>
              </a:r>
              <a:r>
                <a:rPr lang="en" sz="1100" b="0" i="0" u="none" strike="noStrike" cap="none">
                  <a:solidFill>
                    <a:srgbClr val="C36B4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  <a:r>
                <a:rPr lang="en" sz="1100" b="0" i="0" u="none" strike="noStrike" cap="non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خطة أسبوعين مقترحة: طقس حي، وتجربة حساسات، وتقييم التنبؤ والوفر مقابل جدول ري فعلي.</a:t>
              </a:r>
              <a:endParaRPr sz="800" b="0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9" name="Google Shape;259;p37" title="book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41745" y="349107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/>
        </p:nvSpPr>
        <p:spPr>
          <a:xfrm>
            <a:off x="2349750" y="2383675"/>
            <a:ext cx="4837800" cy="17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 sz="52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شكراً</a:t>
            </a:r>
            <a:endParaRPr sz="52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65" name="Google Shape;265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 title="logo mis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8" title="Riyadh Expo 2030(1).png"/>
          <p:cNvPicPr preferRelativeResize="0"/>
          <p:nvPr/>
        </p:nvPicPr>
        <p:blipFill rotWithShape="1">
          <a:blip r:embed="rId6">
            <a:alphaModFix/>
          </a:blip>
          <a:srcRect l="14448" t="33687" r="14448" b="33690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On-screen Show (16:9)</PresentationFormat>
  <Paragraphs>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IBM Plex Sans Arabic</vt:lpstr>
      <vt:lpstr>Arial</vt:lpstr>
      <vt:lpstr>IBM Plex Sans Arabic Medium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فريق أنبت</cp:lastModifiedBy>
  <cp:revision>1</cp:revision>
  <dcterms:modified xsi:type="dcterms:W3CDTF">2026-10-15T08:29:36Z</dcterms:modified>
  <dc:creator>فريق أنبت</dc:creator>
</cp:coreProperties>
</file>